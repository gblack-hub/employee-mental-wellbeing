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-260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76200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5770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7682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69595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181100"/>
            <a:ext cx="5700712" cy="176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1" i="0" u="none" dirty="0" smtClean="0">
                <a:solidFill>
                  <a:srgbClr val="F8FAFC"/>
                </a:solidFill>
              </a:rPr>
              <a:t>Impact of Remote Work on Employee</a:t>
            </a:r>
            <a:r>
              <a:rPr sz="4200" b="1" i="0" u="none" dirty="0" smtClean="0">
                <a:solidFill>
                  <a:srgbClr val="F8FAFC"/>
                </a:solidFill>
              </a:rPr>
              <a:t> </a:t>
            </a:r>
            <a:r>
              <a:rPr sz="4200" b="1" i="0" u="none" dirty="0">
                <a:solidFill>
                  <a:srgbClr val="F8FAFC"/>
                </a:solidFill>
              </a:rPr>
              <a:t>Mental </a:t>
            </a:r>
            <a:r>
              <a:rPr sz="4200" b="1" i="0" u="none" dirty="0" smtClean="0">
                <a:solidFill>
                  <a:srgbClr val="F8FAFC"/>
                </a:solidFill>
              </a:rPr>
              <a:t>Well-Being</a:t>
            </a:r>
            <a:endParaRPr sz="4200" b="1" i="0" u="none" dirty="0">
              <a:solidFill>
                <a:srgbClr val="F8FAF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3169741"/>
            <a:ext cx="48577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0" i="0" u="none" dirty="0" smtClean="0">
                <a:solidFill>
                  <a:srgbClr val="94A3B8"/>
                </a:solidFill>
              </a:rPr>
              <a:t>We e</a:t>
            </a:r>
            <a:r>
              <a:rPr sz="1650" b="0" i="0" u="none" dirty="0" smtClean="0">
                <a:solidFill>
                  <a:srgbClr val="94A3B8"/>
                </a:solidFill>
              </a:rPr>
              <a:t>xplor</a:t>
            </a:r>
            <a:r>
              <a:rPr lang="en-US" sz="1650" b="0" i="0" u="none" dirty="0" smtClean="0">
                <a:solidFill>
                  <a:srgbClr val="94A3B8"/>
                </a:solidFill>
              </a:rPr>
              <a:t>e</a:t>
            </a:r>
            <a:r>
              <a:rPr sz="1650" b="0" i="0" u="none" dirty="0" smtClean="0">
                <a:solidFill>
                  <a:srgbClr val="94A3B8"/>
                </a:solidFill>
              </a:rPr>
              <a:t> </a:t>
            </a:r>
            <a:r>
              <a:rPr sz="1650" b="0" i="0" u="none" dirty="0">
                <a:solidFill>
                  <a:srgbClr val="94A3B8"/>
                </a:solidFill>
              </a:rPr>
              <a:t>patterns in mental health, stress, social isolation, and employee satisfaction.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429125"/>
            <a:ext cx="54861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4667250"/>
            <a:ext cx="16126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</a:rPr>
              <a:t>5,000 employees globally.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048250"/>
            <a:ext cx="55624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286375"/>
            <a:ext cx="188263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</a:rPr>
              <a:t>Global HR workforce patterns.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667375"/>
            <a:ext cx="68287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</a:rP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905500"/>
            <a:ext cx="216136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</a:rPr>
              <a:t>Identify areas needing HR support.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93490" y="0"/>
            <a:ext cx="5298510" cy="6858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solidFill>
                  <a:schemeClr val="tx1"/>
                </a:solidFill>
              </a:rPr>
              <a:t>   By:</a:t>
            </a:r>
          </a:p>
          <a:p>
            <a:r>
              <a:rPr lang="en-US" sz="2800" b="1" dirty="0" smtClean="0">
                <a:solidFill>
                  <a:schemeClr val="tx1"/>
                </a:solidFill>
              </a:rPr>
              <a:t>   Olawale Oladiran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64260"/>
            <a:ext cx="10972800" cy="1162050"/>
          </a:xfrm>
          <a:prstGeom prst="roundRect">
            <a:avLst>
              <a:gd name="adj" fmla="val 983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25860"/>
            <a:ext cx="207258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34580" y="2125860"/>
            <a:ext cx="207258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59560" y="2125860"/>
            <a:ext cx="207258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84541" y="2125860"/>
            <a:ext cx="207258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09521" y="2125860"/>
            <a:ext cx="207258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12586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580" y="212586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59560" y="212586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84541" y="212586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09521" y="212586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16685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015" y="2468760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570" y="246876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838" y="2468760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956" y="2468760"/>
            <a:ext cx="2857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1512" y="2468760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562" y="5050035"/>
            <a:ext cx="1428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609600"/>
            <a:ext cx="70083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smtClean="0">
                <a:solidFill>
                  <a:srgbClr val="0284C7"/>
                </a:solidFill>
              </a:rPr>
              <a:t>OVERVIEW</a:t>
            </a:r>
            <a:endParaRPr sz="1200" b="1" i="0" u="none" dirty="0">
              <a:solidFill>
                <a:srgbClr val="0284C7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600" y="914400"/>
            <a:ext cx="496411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>
                <a:solidFill>
                  <a:srgbClr val="0F172A"/>
                </a:solidFill>
              </a:rPr>
              <a:t>What Does the Data Tell Us?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69060"/>
            <a:ext cx="97726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Mental health struggles are high across the board</a:t>
            </a:r>
            <a:r>
              <a:rPr lang="en-US" b="1" dirty="0" smtClean="0"/>
              <a:t>. Affecting over 75% of employees, the </a:t>
            </a:r>
            <a:r>
              <a:rPr lang="en-US" b="1" dirty="0"/>
              <a:t>data proves this is an organization-wide crisis, not just a remote work problem.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18501" y="2849760"/>
            <a:ext cx="105477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</a:rPr>
              <a:t>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189" y="3421260"/>
            <a:ext cx="10374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</a:rPr>
              <a:t>Total Employees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9781" y="2849760"/>
            <a:ext cx="116217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</a:rPr>
              <a:t>76.1%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1257" y="3421260"/>
            <a:ext cx="20192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</a:rPr>
              <a:t>Mental Health 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4762" y="2849760"/>
            <a:ext cx="116217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</a:rPr>
              <a:t>33.7%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1382" y="3421260"/>
            <a:ext cx="10289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475569"/>
                </a:solidFill>
              </a:rPr>
              <a:t>High Stress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6874" y="2849760"/>
            <a:ext cx="80791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</a:rPr>
              <a:t>3.0</a:t>
            </a:r>
            <a:r>
              <a:rPr sz="1800" b="1" i="0" u="none">
                <a:solidFill>
                  <a:srgbClr val="94A3B8"/>
                </a:solidFill>
              </a:rPr>
              <a:t>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4732" y="3421260"/>
            <a:ext cx="12321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</a:rPr>
              <a:t>Avg Social Isolation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4723" y="2849760"/>
            <a:ext cx="116217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</a:rPr>
              <a:t>33.5%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9259" y="3421260"/>
            <a:ext cx="12731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</a:rPr>
              <a:t>Remote Satisfaction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357687"/>
            <a:ext cx="4572000" cy="1257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357687"/>
            <a:ext cx="38100" cy="12573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2690812"/>
            <a:ext cx="32385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376612"/>
            <a:ext cx="32385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4062412"/>
            <a:ext cx="32385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243012"/>
            <a:ext cx="117442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</a:rPr>
              <a:t>WORK </a:t>
            </a:r>
            <a:r>
              <a:rPr lang="en-US" sz="1200" b="1" i="0" u="none" dirty="0" smtClean="0">
                <a:solidFill>
                  <a:srgbClr val="0284C7"/>
                </a:solidFill>
              </a:rPr>
              <a:t>LOCATIONS</a:t>
            </a:r>
            <a:endParaRPr sz="1200" b="1" i="0" u="none" dirty="0">
              <a:solidFill>
                <a:srgbClr val="0284C7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1547812"/>
            <a:ext cx="4900612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F172A"/>
                </a:solidFill>
              </a:rPr>
              <a:t>Mental Health Patterns Are Similar Across Work 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09912"/>
            <a:ext cx="4667250" cy="961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</a:rPr>
              <a:t>Reported mental health condition rates are consistently high across all three work arrangements, with only modest differences.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9787"/>
            <a:ext cx="299344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Mental Health Condition Rate by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586287"/>
            <a:ext cx="417195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 dirty="0">
                <a:solidFill>
                  <a:srgbClr val="0F172A"/>
                </a:solidFill>
              </a:rPr>
              <a:t>"The data does not support concluding that remote work itself causes poorer mental health."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05112"/>
            <a:ext cx="51700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Onsite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90912"/>
            <a:ext cx="53380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176712"/>
            <a:ext cx="62478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Remote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424112"/>
            <a:ext cx="32385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3071812"/>
            <a:ext cx="32385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3719512"/>
            <a:ext cx="32385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4367212"/>
            <a:ext cx="32385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843087"/>
            <a:ext cx="245772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</a:rPr>
              <a:t>Reported Primary Condition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55589"/>
            <a:ext cx="164942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</a:rPr>
              <a:t>CONDITION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60389"/>
            <a:ext cx="4900612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F172A"/>
                </a:solidFill>
              </a:rPr>
              <a:t>Burnout, Anxiety, and Depression Are the Main Reported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722489"/>
            <a:ext cx="4667250" cy="961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F172A"/>
                </a:solidFill>
              </a:rPr>
              <a:t>Mental health concerns are distributed across several major condition categories, suggesting the need for broad employee well-being support.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38412"/>
            <a:ext cx="65562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Burnout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86112"/>
            <a:ext cx="60600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Anxiety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833812"/>
            <a:ext cx="89069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Depression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481512"/>
            <a:ext cx="42960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None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908845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4600" y="2908845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9362" y="3782169"/>
            <a:ext cx="457200" cy="2161430"/>
          </a:xfrm>
          <a:prstGeom prst="roundRect">
            <a:avLst>
              <a:gd name="adj" fmla="val 8333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22368" y="3750171"/>
            <a:ext cx="457200" cy="2193428"/>
          </a:xfrm>
          <a:prstGeom prst="roundRect">
            <a:avLst>
              <a:gd name="adj" fmla="val 8333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24900" y="3726953"/>
            <a:ext cx="457200" cy="2216646"/>
          </a:xfrm>
          <a:prstGeom prst="roundRect">
            <a:avLst>
              <a:gd name="adj" fmla="val 8333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17906" y="3697932"/>
            <a:ext cx="457200" cy="2245667"/>
          </a:xfrm>
          <a:prstGeom prst="roundRect">
            <a:avLst>
              <a:gd name="adj" fmla="val 833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0912" y="3726953"/>
            <a:ext cx="457200" cy="2216646"/>
          </a:xfrm>
          <a:prstGeom prst="roundRect">
            <a:avLst>
              <a:gd name="adj" fmla="val 8333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565745"/>
              </p:ext>
            </p:extLst>
          </p:nvPr>
        </p:nvGraphicFramePr>
        <p:xfrm>
          <a:off x="609600" y="3156495"/>
          <a:ext cx="5257798" cy="192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345"/>
                <a:gridCol w="1423987"/>
                <a:gridCol w="1408211"/>
                <a:gridCol w="1377255"/>
              </a:tblGrid>
              <a:tr h="4810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Inter"/>
                        </a:rPr>
                        <a:t>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Inter"/>
                        </a:rPr>
                        <a:t>High Stress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Inter"/>
                        </a:rPr>
                        <a:t>Med Stress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Inter"/>
                        </a:rPr>
                        <a:t>Low Stress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Remote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Inter"/>
                        </a:rPr>
                        <a:t>34.4%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33.7%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31.9%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Hybrid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Inter"/>
                        </a:rPr>
                        <a:t>34.0%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33.1%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32.9%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Onsite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Inter"/>
                        </a:rPr>
                        <a:t>32.7%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33.4%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33.9%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609600"/>
            <a:ext cx="139794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</a:rPr>
              <a:t>ADDITIONAL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14400"/>
            <a:ext cx="910544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>
                <a:solidFill>
                  <a:srgbClr val="0F172A"/>
                </a:solidFill>
              </a:rPr>
              <a:t>Stress and Social Isolation Show Limited Differences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603920"/>
            <a:ext cx="7715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</a:rPr>
              <a:t>Stress profiles are very similar across work arrangements, while social isolation shows some variation but not a perfectly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94520"/>
            <a:ext cx="53530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Stress Profile by Work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2594520"/>
            <a:ext cx="53530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Mental Health Condition Rate by Isolation Rating (1-5)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477369"/>
            <a:ext cx="3895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74.5%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6057900"/>
            <a:ext cx="785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2843" y="34453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75.6%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3343" y="6057900"/>
            <a:ext cx="785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0612" y="3422153"/>
            <a:ext cx="3895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76.4%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5875" y="6057900"/>
            <a:ext cx="785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7906" y="3393132"/>
            <a:ext cx="3895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77.4%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4118" y="6057900"/>
            <a:ext cx="785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6625" y="3422153"/>
            <a:ext cx="3895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76.4%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1887" y="6057900"/>
            <a:ext cx="785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76500" y="3175545"/>
            <a:ext cx="1143000" cy="2324100"/>
          </a:xfrm>
          <a:prstGeom prst="roundRect">
            <a:avLst>
              <a:gd name="adj" fmla="val 6666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00500" y="3175545"/>
            <a:ext cx="1143000" cy="2324100"/>
          </a:xfrm>
          <a:prstGeom prst="roundRect">
            <a:avLst>
              <a:gd name="adj" fmla="val 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24500" y="3175545"/>
            <a:ext cx="1143000" cy="2324100"/>
          </a:xfrm>
          <a:prstGeom prst="roundRect">
            <a:avLst>
              <a:gd name="adj" fmla="val 6666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48500" y="3175545"/>
            <a:ext cx="1143000" cy="2324100"/>
          </a:xfrm>
          <a:prstGeom prst="roundRect">
            <a:avLst>
              <a:gd name="adj" fmla="val 6666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72500" y="3175545"/>
            <a:ext cx="1143000" cy="2324100"/>
          </a:xfrm>
          <a:prstGeom prst="roundRect">
            <a:avLst>
              <a:gd name="adj" fmla="val 6666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24405" y="609600"/>
            <a:ext cx="134318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</a:rPr>
              <a:t>WORK-LIFE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6715" y="914400"/>
            <a:ext cx="741856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sz="3300" b="1" i="0" u="none">
                <a:solidFill>
                  <a:srgbClr val="0F172A"/>
                </a:solidFill>
              </a:rPr>
              <a:t>Work-Life Balance Shows a Similar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187" y="1603920"/>
            <a:ext cx="107156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</a:rPr>
              <a:t>Mental health condition rates remain consistently high across work-life balance ratings, reinforcing that no single factor explains the overall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7856" y="2746920"/>
            <a:ext cx="58028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</a:rPr>
              <a:t>75.2%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5452" y="5728245"/>
            <a:ext cx="58509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64748B"/>
                </a:solidFill>
              </a:rPr>
              <a:t>Rating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1856" y="2746920"/>
            <a:ext cx="58028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</a:rPr>
              <a:t>77.0%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451" y="5728245"/>
            <a:ext cx="5850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64748B"/>
                </a:solidFill>
              </a:rPr>
              <a:t>Rating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5856" y="2746920"/>
            <a:ext cx="58028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</a:rPr>
              <a:t>76.3%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3451" y="5728245"/>
            <a:ext cx="5850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64748B"/>
                </a:solidFill>
              </a:rPr>
              <a:t>Rating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856" y="2746920"/>
            <a:ext cx="58028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</a:rPr>
              <a:t>76.7%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7452" y="5728245"/>
            <a:ext cx="58509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64748B"/>
                </a:solidFill>
              </a:rPr>
              <a:t>Rating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3856" y="2746920"/>
            <a:ext cx="58028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</a:rPr>
              <a:t>75.2%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451" y="5728245"/>
            <a:ext cx="5850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64748B"/>
                </a:solidFill>
              </a:rPr>
              <a:t>Rating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638550"/>
            <a:ext cx="25908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505200" y="3638550"/>
            <a:ext cx="25908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286250"/>
            <a:ext cx="25908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05200" y="4286250"/>
            <a:ext cx="25908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933950"/>
            <a:ext cx="25908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05200" y="4933950"/>
            <a:ext cx="25908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810000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381000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4457700"/>
            <a:ext cx="1143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800" y="445770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510540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3800" y="5105400"/>
            <a:ext cx="1905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1200150"/>
            <a:ext cx="15900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</a:rPr>
              <a:t>DASHBOARD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504950"/>
            <a:ext cx="5700712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F172A"/>
                </a:solidFill>
              </a:rPr>
              <a:t>Identify Priority Employee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571750"/>
            <a:ext cx="5429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</a:rPr>
              <a:t>HR teams can interactively filter the dashboard to identify segments with higher mental health condition rates, higher stress, greater isolation, or lower satisfaction.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3790950"/>
            <a:ext cx="2019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Work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500" y="3790950"/>
            <a:ext cx="19621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438650"/>
            <a:ext cx="20002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Industry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500" y="4438650"/>
            <a:ext cx="19621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Job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086350"/>
            <a:ext cx="19812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Age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600" y="5086350"/>
            <a:ext cx="19240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</a:rPr>
              <a:t>Gender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7867"/>
            <a:ext cx="3454449" cy="3145035"/>
          </a:xfrm>
          <a:prstGeom prst="roundRect">
            <a:avLst>
              <a:gd name="adj" fmla="val 36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339280"/>
            <a:ext cx="3454449" cy="3402210"/>
          </a:xfrm>
          <a:prstGeom prst="roundRect">
            <a:avLst>
              <a:gd name="adj" fmla="val 33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339280"/>
            <a:ext cx="3454449" cy="3402210"/>
          </a:xfrm>
          <a:prstGeom prst="roundRect">
            <a:avLst>
              <a:gd name="adj" fmla="val 33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5067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279648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2796480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07746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1762" y="2948880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5299" y="294888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3611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</a:rP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14400"/>
            <a:ext cx="4063228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>
                <a:solidFill>
                  <a:srgbClr val="0F172A"/>
                </a:solidFill>
              </a:rPr>
              <a:t>From Insights to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87067"/>
            <a:ext cx="3087104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F172A"/>
                </a:solidFill>
              </a:rPr>
              <a:t>Avoid a one-size-fits-all work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4178"/>
            <a:ext cx="2940099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</a:rPr>
              <a:t>"Work arrangement alone does not explain mental health patterns."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49" y="3558480"/>
            <a:ext cx="3087104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F172A"/>
                </a:solidFill>
              </a:rPr>
              <a:t>Strengthen proactive mental health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49" y="4255591"/>
            <a:ext cx="2940099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</a:rPr>
              <a:t>"High reported condition and stress rates indicate the importance of accessible and preventative employee support."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899" y="3558480"/>
            <a:ext cx="3087104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F172A"/>
                </a:solidFill>
              </a:rPr>
              <a:t>Target interventions using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899" y="4255591"/>
            <a:ext cx="2940099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</a:rPr>
              <a:t>"Use region, industry, role, demographic and work-arrangement filters to identify higher-priority employee groups."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376612"/>
            <a:ext cx="171450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871912"/>
            <a:ext cx="1714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252912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633912"/>
            <a:ext cx="17145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10162" y="531762"/>
            <a:ext cx="9716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296" y="950862"/>
            <a:ext cx="11251406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</a:rPr>
              <a:t>"Employee mental well-being cannot be explained by work arrangement alone."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8812" y="5686425"/>
            <a:ext cx="833437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</a:rPr>
              <a:t>From measuring employee well-being to making more targeted, evidence-based HR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9850" y="3361209"/>
            <a:ext cx="73914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CBD5E1"/>
                </a:solidFill>
              </a:rPr>
              <a:t>Mental health condition rates are high across remote, hybrid, and onsite employees.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9850" y="3857625"/>
            <a:ext cx="7391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CBD5E1"/>
                </a:solidFill>
              </a:rPr>
              <a:t>Stress profiles are broadly similar across work arrangements.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9850" y="4238625"/>
            <a:ext cx="7391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CBD5E1"/>
                </a:solidFill>
              </a:rPr>
              <a:t>Multiple factors must be evaluated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9850" y="4619625"/>
            <a:ext cx="7391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CBD5E1"/>
                </a:solidFill>
              </a:rPr>
              <a:t>Interactive segmentation identifies where support is most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98937" y="2592888"/>
            <a:ext cx="471667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 smtClean="0"/>
              <a:t>Thank You.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522</Words>
  <Application>Microsoft Office PowerPoint</Application>
  <PresentationFormat>Custom</PresentationFormat>
  <Paragraphs>108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Olawale Oladiran</cp:lastModifiedBy>
  <cp:revision>5</cp:revision>
  <dcterms:created xsi:type="dcterms:W3CDTF">2013-01-27T09:14:16Z</dcterms:created>
  <dcterms:modified xsi:type="dcterms:W3CDTF">2026-09-12T16:38:50Z</dcterms:modified>
  <cp:category/>
</cp:coreProperties>
</file>